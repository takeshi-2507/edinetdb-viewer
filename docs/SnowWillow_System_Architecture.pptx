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gif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SnowWillow Terminal — ローカル版 システム構成図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82"/>
                </a:solidFill>
              </a:defRPr>
            </a:pPr>
            <a:r>
              <a:t>PC (Windows 11) 上で完結  |  株価リアルタイム  |  サイバーテーマ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3840480" cy="2194560"/>
          </a:xfrm>
          <a:prstGeom prst="roundRect">
            <a:avLst/>
          </a:prstGeom>
          <a:solidFill>
            <a:srgbClr val="12121A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0F0F5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</a:defRPr>
            </a:pPr>
            <a:r>
              <a:t>ブラウザ  localhost:5173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474720" cy="1645920"/>
          </a:xfrm>
          <a:prstGeom prst="roundRect">
            <a:avLst/>
          </a:prstGeom>
          <a:solidFill>
            <a:srgbClr val="1C1C28"/>
          </a:solidFill>
          <a:ln w="1905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14447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</a:defRPr>
            </a:pPr>
            <a:r>
              <a:t>React 18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4FF"/>
                </a:solidFill>
              </a:defRPr>
            </a:pPr>
            <a:r>
              <a:t>● Screener  V/Qスコア統合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756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</a:defRPr>
            </a:pPr>
            <a:r>
              <a:t>● CompanyDetail  財務チャート+IR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682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</a:defRPr>
            </a:pPr>
            <a:r>
              <a:t>● Dashboard  ステータス+業種分析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609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</a:defRPr>
            </a:pPr>
            <a:r>
              <a:t>● DemoTrade  模擬売買+ポートフォリオ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1051560"/>
            <a:ext cx="1371600" cy="256032"/>
          </a:xfrm>
          <a:prstGeom prst="roundRect">
            <a:avLst/>
          </a:prstGeom>
          <a:solidFill>
            <a:srgbClr val="002030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0D4FF"/>
                </a:solidFill>
              </a:defRPr>
            </a:pPr>
            <a:r>
              <a:t>🌍 サイバーテーマ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46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E6E82"/>
                </a:solidFill>
              </a:defRPr>
            </a:pPr>
            <a:r>
              <a:t>▼  /api/*  (Vite Proxy)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520440"/>
            <a:ext cx="3840480" cy="2560320"/>
          </a:xfrm>
          <a:prstGeom prst="roundRect">
            <a:avLst/>
          </a:prstGeom>
          <a:solidFill>
            <a:srgbClr val="12121A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66160"/>
            <a:ext cx="320040" cy="3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</a:defRPr>
            </a:pPr>
            <a:r>
              <a:t>FastAPI + Uvicorn  :8001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97763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6A00"/>
                </a:solidFill>
              </a:defRPr>
            </a:pPr>
            <a:r>
              <a:t>▸ Value Score (竹原式)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9776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PER+PBR+ROE+営業利益率+現金+FCF → 100点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5195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</a:defRPr>
            </a:pPr>
            <a:r>
              <a:t>▸ Quality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5195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営業利益率+ROE+CF質 → 100点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2627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</a:defRPr>
            </a:pPr>
            <a:r>
              <a:t>▸ 統合スコア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52627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Value×0.6 + Quality×0.4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0059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</a:defRPr>
            </a:pPr>
            <a:r>
              <a:t>▸ 偽成長検知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80059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4フラグ → Quality減点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7491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</a:defRPr>
            </a:pPr>
            <a:r>
              <a:t>▸ 業種除外フィルタ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07491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複数業種チェックボックス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34923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</a:defRPr>
            </a:pPr>
            <a:r>
              <a:t>▸ CN-PER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3492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PER×(1-ネットキャッシュ比率)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62355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</a:defRPr>
            </a:pPr>
            <a:r>
              <a:t>▸ 売りアラート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562355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EPS×15超えで通知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1005840"/>
            <a:ext cx="2011680" cy="1828800"/>
          </a:xfrm>
          <a:prstGeom prst="roundRect">
            <a:avLst/>
          </a:prstGeom>
          <a:solidFill>
            <a:srgbClr val="12121A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ql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78992"/>
            <a:ext cx="320040" cy="3200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257800" y="1078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SQLite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14173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</a:defRPr>
            </a:pPr>
            <a:r>
              <a:t>edinet.db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16276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</a:defRPr>
            </a:pPr>
            <a:r>
              <a:t>3,848社 / 財務10年分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18379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companies テーブル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20482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financials テーブル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22585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ratios テーブル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24688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analysis テーブル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0" y="3017520"/>
            <a:ext cx="2011680" cy="1463040"/>
          </a:xfrm>
          <a:prstGeom prst="roundRect">
            <a:avLst/>
          </a:prstGeom>
          <a:solidFill>
            <a:srgbClr val="12121A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30906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</a:defRPr>
            </a:pPr>
            <a:r>
              <a:t>yfinance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340156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</a:defRPr>
            </a:pPr>
            <a:r>
              <a:t>リアルタイム株価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360273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</a:defRPr>
            </a:pPr>
            <a:r>
              <a:t>バランスシート (BS)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380390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TTL: 5分 / BS: 30日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00507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並列取得 (5workers)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42062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→ Yahoo Finance API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54880" y="4663440"/>
            <a:ext cx="201168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6E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0" y="47091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E6E82"/>
                </a:solidFill>
              </a:defRPr>
            </a:pPr>
            <a:r>
              <a:t>キャッシュファイル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49377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price_cache.json (5分)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1206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bs_cache.json (30日)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0" y="1005840"/>
            <a:ext cx="1554480" cy="1097280"/>
          </a:xfrm>
          <a:prstGeom prst="roundRect">
            <a:avLst/>
          </a:prstGeom>
          <a:solidFill>
            <a:srgbClr val="1C1C28"/>
          </a:solidFill>
          <a:ln w="12700">
            <a:solidFill>
              <a:srgbClr val="404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10789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</a:defRPr>
            </a:pPr>
            <a:r>
              <a:t>EDINET DB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13258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edinetdb.jp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15087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D4FF"/>
                </a:solidFill>
              </a:defRPr>
            </a:pPr>
            <a:r>
              <a:t>毎日 JST 3:00 同期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16916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(GitHub Actions)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2377440"/>
            <a:ext cx="1554480" cy="822960"/>
          </a:xfrm>
          <a:prstGeom prst="roundRect">
            <a:avLst/>
          </a:prstGeom>
          <a:solidFill>
            <a:srgbClr val="1C1C28"/>
          </a:solidFill>
          <a:ln w="12700">
            <a:solidFill>
              <a:srgbClr val="404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24505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</a:defRPr>
            </a:pPr>
            <a:r>
              <a:t>Yahoo Finance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26974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株価 + 財務データ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2880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9E0B"/>
                </a:solidFill>
              </a:defRPr>
            </a:pPr>
            <a:r>
              <a:t>HTTPS リアルタイム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60520" y="18288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◀──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60520" y="35661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</a:defRPr>
            </a:pPr>
            <a:r>
              <a:t>◀──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12280" y="13716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82"/>
                </a:solidFill>
              </a:defRPr>
            </a:pPr>
            <a:r>
              <a:t>──▶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26517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</a:defRPr>
            </a:pPr>
            <a:r>
              <a:t>──▶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4320" y="6263640"/>
            <a:ext cx="8595360" cy="502920"/>
          </a:xfrm>
          <a:prstGeom prst="roundRect">
            <a:avLst/>
          </a:prstGeom>
          <a:solidFill>
            <a:srgbClr val="1C1C28"/>
          </a:solidFill>
          <a:ln w="1270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3093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A00"/>
                </a:solidFill>
              </a:defRPr>
            </a:pPr>
            <a:r>
              <a:t>A Value 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48840" y="63093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</a:defRPr>
            </a:pPr>
            <a:r>
              <a:t>B Quality 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40480" y="63093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E6E82"/>
                </a:solidFill>
              </a:defRPr>
            </a:pPr>
            <a:r>
              <a:t>C Momentum 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32120" y="63093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E6E82"/>
                </a:solidFill>
              </a:defRPr>
            </a:pPr>
            <a:r>
              <a:t>D Event 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0" y="63093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E6E82"/>
                </a:solidFill>
              </a:defRPr>
            </a:pPr>
            <a:r>
              <a:t>E AI定性 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49224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SnowWillow Terminal ロードマップ:  Phase 1 完了  →  Phase 2 (株価時系列/テクニカル) は次回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A00"/>
                </a:solidFill>
              </a:defRPr>
            </a:pPr>
            <a:r>
              <a:t>SnowWillow Terminal — オンライン版 システム構成図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82"/>
                </a:solidFill>
              </a:defRPr>
            </a:pPr>
            <a:r>
              <a:t>Render.com (Free tier)  |  Docker  |  GitHub Actions 自動デプロイ  |  Asiimovテーマ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645920" cy="1097280"/>
          </a:xfrm>
          <a:prstGeom prst="roundRect">
            <a:avLst/>
          </a:prstGeom>
          <a:solidFill>
            <a:srgbClr val="12121A"/>
          </a:solidFill>
          <a:ln w="19050">
            <a:solidFill>
              <a:srgbClr val="6E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</a:defRPr>
            </a:pPr>
            <a:r>
              <a:t>👤 ユーザー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82"/>
                </a:solidFill>
              </a:defRPr>
            </a:pPr>
            <a:r>
              <a:t>ブラウザ (HTTPS)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6A00"/>
                </a:solidFill>
              </a:defRPr>
            </a:pPr>
            <a:r>
              <a:t>テーマ: Asiimov (orange)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株価: デフォルトOFF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5544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82"/>
                </a:solidFill>
              </a:defRPr>
            </a:pPr>
            <a:r>
              <a:t>──▶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7373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HTTPS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1005840"/>
            <a:ext cx="4114800" cy="3474720"/>
          </a:xfrm>
          <a:prstGeom prst="roundRect">
            <a:avLst/>
          </a:prstGeom>
          <a:solidFill>
            <a:srgbClr val="12121A"/>
          </a:solidFill>
          <a:ln w="2540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078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A00"/>
                </a:solidFill>
              </a:defRPr>
            </a:pPr>
            <a:r>
              <a:t>Render.com (Free tier)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463040"/>
            <a:ext cx="3749039" cy="2834640"/>
          </a:xfrm>
          <a:prstGeom prst="roundRect">
            <a:avLst/>
          </a:prstGeom>
          <a:solidFill>
            <a:srgbClr val="1C1C28"/>
          </a:solidFill>
          <a:ln w="19050">
            <a:solidFill>
              <a:srgbClr val="00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508760"/>
            <a:ext cx="27432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63240" y="1508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FF"/>
                </a:solidFill>
              </a:defRPr>
            </a:pPr>
            <a:r>
              <a:t>Docker コンテナ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508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F4444"/>
                </a:solidFill>
              </a:defRPr>
            </a:pPr>
            <a:r>
              <a:t>メモリ: 512MB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1828800"/>
            <a:ext cx="3383280" cy="109728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874519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46120" y="187451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</a:defRPr>
            </a:pPr>
            <a:r>
              <a:t>Uvicorn + FastAPI  :8080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17627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0F0F5"/>
                </a:solidFill>
              </a:defRPr>
            </a:pPr>
            <a:r>
              <a:t>▸ 全スコアリング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1762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ローカルと同一コード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40487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0F0F5"/>
                </a:solidFill>
              </a:defRPr>
            </a:pPr>
            <a:r>
              <a:t>▸ 業種除外/偽成長検知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4048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全フィルタ対応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63347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0F0F5"/>
                </a:solidFill>
              </a:defRPr>
            </a:pPr>
            <a:r>
              <a:t>▸ IR プロキシ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6334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EDINET API 中継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3017520"/>
            <a:ext cx="1554480" cy="73152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3063240"/>
            <a:ext cx="228600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0" y="3063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</a:defRPr>
            </a:pPr>
            <a:r>
              <a:t>React 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37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Static Files 配信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5204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6A00"/>
                </a:solidFill>
              </a:defRPr>
            </a:pPr>
            <a:r>
              <a:t>Asiimov テーマ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3017520"/>
            <a:ext cx="1554480" cy="73152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ql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063240"/>
            <a:ext cx="228600" cy="2286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29200" y="3063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</a:defRPr>
            </a:pPr>
            <a:r>
              <a:t>SQLite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337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edinet.db (コンテナ内)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5204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デプロイ時に更新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0" y="4846320"/>
            <a:ext cx="1828800" cy="1645920"/>
          </a:xfrm>
          <a:prstGeom prst="roundRect">
            <a:avLst/>
          </a:prstGeom>
          <a:solidFill>
            <a:srgbClr val="12121A"/>
          </a:solidFill>
          <a:ln w="19050">
            <a:solidFill>
              <a:srgbClr val="F0F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4919472"/>
            <a:ext cx="320040" cy="3200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71800" y="49194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</a:defRPr>
            </a:pPr>
            <a:r>
              <a:t>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52578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82"/>
                </a:solidFill>
              </a:defRPr>
            </a:pPr>
            <a:r>
              <a:t>main ブランチ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4864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6A00"/>
                </a:solidFill>
              </a:defRPr>
            </a:pPr>
            <a:r>
              <a:t>push → 自動デプロイ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57150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ソースコード管理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040" y="59436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edinet.db も管理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46177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6A00"/>
                </a:solidFill>
              </a:defRPr>
            </a:pPr>
            <a:r>
              <a:t>▲ auto deploy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54880" y="4846320"/>
            <a:ext cx="2103120" cy="1645920"/>
          </a:xfrm>
          <a:prstGeom prst="roundRect">
            <a:avLst/>
          </a:prstGeom>
          <a:solidFill>
            <a:srgbClr val="12121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92040" y="4919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</a:defRPr>
            </a:pPr>
            <a:r>
              <a:t>GitHub Actions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52120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</a:defRPr>
            </a:pPr>
            <a:r>
              <a:t>⏰ 毎日 JST 3:00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2040" y="54681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1. collector.py 実行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2040" y="56692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2. EDINET API → DB更新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58704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3. git commit + push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2040" y="607161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6A00"/>
                </a:solidFill>
              </a:defRPr>
            </a:pPr>
            <a:r>
              <a:t>4. → Render 自動デプロイ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56692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</a:defRPr>
            </a:pPr>
            <a:r>
              <a:t>◀──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0" y="5029200"/>
            <a:ext cx="1554480" cy="1097280"/>
          </a:xfrm>
          <a:prstGeom prst="roundRect">
            <a:avLst/>
          </a:prstGeom>
          <a:solidFill>
            <a:srgbClr val="1C1C28"/>
          </a:solidFill>
          <a:ln w="12700">
            <a:solidFill>
              <a:srgbClr val="404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51023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</a:defRPr>
            </a:pPr>
            <a:r>
              <a:t>EDINET DB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53492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82"/>
                </a:solidFill>
              </a:defRPr>
            </a:pPr>
            <a:r>
              <a:t>edinetdb.jp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55778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6E82"/>
                </a:solidFill>
              </a:defRPr>
            </a:pPr>
            <a:r>
              <a:t>財務データ取得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57607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D4FF"/>
                </a:solidFill>
              </a:defRPr>
            </a:pPr>
            <a:r>
              <a:t>HTTPS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5486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82"/>
                </a:solidFill>
              </a:defRPr>
            </a:pPr>
            <a:r>
              <a:t>──▶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</a:defRPr>
            </a:pPr>
            <a:r>
              <a:t>ローカル版 vs オンライン版  比較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828800" cy="384048"/>
          </a:xfrm>
          <a:prstGeom prst="roundRect">
            <a:avLst/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0F0F5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2331720" y="1005840"/>
            <a:ext cx="3200400" cy="384048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8080C"/>
                </a:solidFill>
              </a:defRPr>
            </a:pPr>
            <a:r>
              <a:t>ローカル版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005840"/>
            <a:ext cx="3200400" cy="3840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8080C"/>
                </a:solidFill>
              </a:defRPr>
            </a:pPr>
            <a:r>
              <a:t>オンライン版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26464"/>
            <a:ext cx="1828800" cy="384048"/>
          </a:xfrm>
          <a:prstGeom prst="round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6E6E82"/>
                </a:solidFill>
              </a:defRPr>
            </a:pPr>
            <a:r>
              <a:t>  テーマ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426464"/>
            <a:ext cx="3200400" cy="384048"/>
          </a:xfrm>
          <a:prstGeom prst="round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サイバー (cyan/purple) + 地球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426464"/>
            <a:ext cx="3200400" cy="384048"/>
          </a:xfrm>
          <a:prstGeom prst="round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Asiimov (orange/black)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47088"/>
            <a:ext cx="1828800" cy="384048"/>
          </a:xfrm>
          <a:prstGeom prst="roundRect">
            <a:avLst/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6E6E82"/>
                </a:solidFill>
              </a:defRPr>
            </a:pPr>
            <a:r>
              <a:t>  株価表示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1847088"/>
            <a:ext cx="3200400" cy="384048"/>
          </a:xfrm>
          <a:prstGeom prst="roundRect">
            <a:avLst/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デフォルト 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847088"/>
            <a:ext cx="3200400" cy="384048"/>
          </a:xfrm>
          <a:prstGeom prst="roundRect">
            <a:avLst/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デフォルト OFF (メモリ節約)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67712"/>
            <a:ext cx="1828800" cy="384048"/>
          </a:xfrm>
          <a:prstGeom prst="round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6E6E82"/>
                </a:solidFill>
              </a:defRPr>
            </a:pPr>
            <a:r>
              <a:t>  フロントエンド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2267712"/>
            <a:ext cx="3200400" cy="384048"/>
          </a:xfrm>
          <a:prstGeom prst="round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Vite dev server (HMR)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2267712"/>
            <a:ext cx="3200400" cy="384048"/>
          </a:xfrm>
          <a:prstGeom prst="round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Static build (Uvicorn配信)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88336"/>
            <a:ext cx="1828800" cy="384048"/>
          </a:xfrm>
          <a:prstGeom prst="roundRect">
            <a:avLst/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6E6E82"/>
                </a:solidFill>
              </a:defRPr>
            </a:pPr>
            <a:r>
              <a:t>  バックエンド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2688336"/>
            <a:ext cx="3200400" cy="384048"/>
          </a:xfrm>
          <a:prstGeom prst="roundRect">
            <a:avLst/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Uvicorn :8001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2688336"/>
            <a:ext cx="3200400" cy="384048"/>
          </a:xfrm>
          <a:prstGeom prst="roundRect">
            <a:avLst/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Uvicorn :8080 (Docker)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828800" cy="384048"/>
          </a:xfrm>
          <a:prstGeom prst="round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6E6E82"/>
                </a:solidFill>
              </a:defRPr>
            </a:pPr>
            <a:r>
              <a:t>  DB更新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3108960"/>
            <a:ext cx="3200400" cy="384048"/>
          </a:xfrm>
          <a:prstGeom prst="round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git pull で反映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3108960"/>
            <a:ext cx="3200400" cy="384048"/>
          </a:xfrm>
          <a:prstGeom prst="round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GitHub Actions → 自動デプロイ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29584"/>
            <a:ext cx="1828800" cy="384048"/>
          </a:xfrm>
          <a:prstGeom prst="roundRect">
            <a:avLst/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6E6E82"/>
                </a:solidFill>
              </a:defRPr>
            </a:pPr>
            <a:r>
              <a:t>  メモリ制限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3529584"/>
            <a:ext cx="3200400" cy="384048"/>
          </a:xfrm>
          <a:prstGeom prst="roundRect">
            <a:avLst/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なし (PC依存)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3529584"/>
            <a:ext cx="3200400" cy="384048"/>
          </a:xfrm>
          <a:prstGeom prst="roundRect">
            <a:avLst/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512MB (Free tier)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950208"/>
            <a:ext cx="1828800" cy="384048"/>
          </a:xfrm>
          <a:prstGeom prst="round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6E6E82"/>
                </a:solidFill>
              </a:defRPr>
            </a:pPr>
            <a:r>
              <a:t>  スコアリング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720" y="3950208"/>
            <a:ext cx="3200400" cy="384048"/>
          </a:xfrm>
          <a:prstGeom prst="round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同一コード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0" y="3950208"/>
            <a:ext cx="3200400" cy="384048"/>
          </a:xfrm>
          <a:prstGeom prst="round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同一コード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70832"/>
            <a:ext cx="1828800" cy="384048"/>
          </a:xfrm>
          <a:prstGeom prst="roundRect">
            <a:avLst/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6E6E82"/>
                </a:solidFill>
              </a:defRPr>
            </a:pPr>
            <a:r>
              <a:t>  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31720" y="4370832"/>
            <a:ext cx="3200400" cy="384048"/>
          </a:xfrm>
          <a:prstGeom prst="roundRect">
            <a:avLst/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localhost のみ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4370832"/>
            <a:ext cx="3200400" cy="384048"/>
          </a:xfrm>
          <a:prstGeom prst="roundRect">
            <a:avLst/>
          </a:prstGeom>
          <a:solidFill>
            <a:srgbClr val="1C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インターネット公開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91456"/>
            <a:ext cx="1828800" cy="384048"/>
          </a:xfrm>
          <a:prstGeom prst="round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6E6E82"/>
                </a:solidFill>
              </a:defRPr>
            </a:pPr>
            <a:r>
              <a:t>  用途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31720" y="4791456"/>
            <a:ext cx="3200400" cy="384048"/>
          </a:xfrm>
          <a:prstGeom prst="round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メイン利用 (全機能)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791456"/>
            <a:ext cx="3200400" cy="384048"/>
          </a:xfrm>
          <a:prstGeom prst="roundRect">
            <a:avLst/>
          </a:prstGeom>
          <a:solidFill>
            <a:srgbClr val="12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0F0F5"/>
                </a:solidFill>
              </a:defRPr>
            </a:pPr>
            <a:r>
              <a:t>  外出先/共有用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